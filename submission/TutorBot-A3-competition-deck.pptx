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custom"/>
  <p:notesSz cx="6858000" cy="9144000"/>
  <p:embeddedFontLst>
    <p:embeddedFont>
      <p:font typeface="Liberation Sans" panose="00000000000000000000"/>
      <p:bold r:id="rId18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  <Relationship Id="rId18" Type="http://schemas.openxmlformats.org/officeDocument/2006/relationships/font" Target="fonts/font1.fntdata"/>
  <Relationship Id="rId19" Type="http://schemas.openxmlformats.org/officeDocument/2006/relationships/font" Target="fonts/font2.fntdata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FF9F0"/>
            </a:gs>
            <a:gs pos="100000">
              <a:srgbClr val="F2E7D6"/>
            </a:gs>
          </a:gsLst>
          <a:lin ang="444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1028700" y="2943225"/>
            <a:ext cx="1581150" cy="42862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/>
          </a:bodyPr>
          <a:lstStyle/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TutorBot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28700" y="3476625"/>
            <a:ext cx="3076575" cy="219075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/>
          </a:bodyPr>
          <a:lstStyle/>
          <a:p>
            <a:pPr>
              <a:lnSpc>
                <a:spcPts val="1639"/>
              </a:lnSpc>
            </a:pPr>
            <a:r>
              <a:rPr lang="en-US" sz="1425" dirty="0">
                <a:solidFill>
                  <a:srgbClr val="8A6A5A"/>
                </a:solidFill>
                <a:latin typeface="Liberation Sans"/>
                <a:ea typeface=""/>
                <a:cs typeface=""/>
              </a:rPr>
              <a:t>基于大模型的个性化资源生成与学习多智能体系统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1028700" y="3990975"/>
            <a:ext cx="1114425" cy="28575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914400" y="2781300"/>
            <a:ext cx="4638675" cy="3429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/>
          </a:bodyPr>
          <a:lstStyle/>
          <a:p>
            <a:pPr>
              <a:lnSpc>
                <a:spcPts val="2587"/>
              </a:lnSpc>
            </a:pPr>
            <a:r>
              <a:rPr lang="en-US" sz="225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学生缺的不是更多资料，而是适合自己的下一步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914400" y="3343275"/>
            <a:ext cx="857250" cy="28575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914400" y="3705225"/>
            <a:ext cx="3067050" cy="1524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海量资源缺少顺序、难度和可信来源，统一教学无法持续适配每位学生。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914400" y="3952875"/>
            <a:ext cx="3686175" cy="1524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TutorBot 把学习目标、历史、错误和偏好转成可执行路径，并用练习结果持续更新。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914400" y="857250"/>
            <a:ext cx="1171575" cy="11430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0C7A6C"/>
              </a:gs>
            </a:gsLst>
            <a:lin ang="330000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352550" y="112395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9C8BD"/>
                </a:solidFill>
                <a:latin typeface="Liberation Sans"/>
                <a:ea typeface=""/>
                <a:cs typeface=""/>
              </a:rPr>
              <a:t>画像维度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419225" y="12668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6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333500" y="1600200"/>
            <a:ext cx="3238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61BEB2"/>
                </a:solidFill>
                <a:latin typeface="Liberation Sans"/>
                <a:ea typeface=""/>
                <a:cs typeface=""/>
              </a:rPr>
              <a:t>随学随新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286000" y="857250"/>
            <a:ext cx="1857375" cy="1143000"/>
          </a:xfrm>
          <a:prstGeom prst="rect">
            <a:avLst/>
          </a:prstGeom>
          <a:solidFill>
            <a:srgbClr val="3C281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057525" y="114300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EEDBC8"/>
                </a:solidFill>
                <a:latin typeface="Liberation Sans"/>
                <a:ea typeface=""/>
                <a:cs typeface=""/>
              </a:rPr>
              <a:t>资源类型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057525" y="124777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FFF9F0"/>
                </a:solidFill>
                <a:latin typeface="Liberation Sans"/>
                <a:ea typeface=""/>
                <a:cs typeface=""/>
              </a:rPr>
              <a:t>5+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905125" y="1581150"/>
            <a:ext cx="6000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61BEB2"/>
                </a:solidFill>
                <a:latin typeface="Liberation Sans"/>
                <a:ea typeface=""/>
                <a:cs typeface=""/>
              </a:rPr>
              <a:t>文档到代码/视频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343400" y="857250"/>
            <a:ext cx="2181225" cy="1143000"/>
          </a:xfrm>
          <a:prstGeom prst="rect">
            <a:avLst/>
          </a:prstGeom>
          <a:solidFill>
            <a:srgbClr val="FFFCF7"/>
          </a:solidFill>
          <a:ln w="9525">
            <a:solidFill>
              <a:srgbClr val="DFCBB8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286375" y="114300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核心能力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353050" y="12477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5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62525" y="1581150"/>
            <a:ext cx="9334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画像/生成/路径/辅导/评测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6724650" y="857250"/>
            <a:ext cx="1733550" cy="1143000"/>
          </a:xfrm>
          <a:prstGeom prst="rect">
            <a:avLst/>
          </a:prstGeom>
          <a:solidFill>
            <a:srgbClr val="FFFCF7"/>
          </a:solidFill>
          <a:ln w="9525">
            <a:solidFill>
              <a:srgbClr val="DFCBB8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439025" y="114300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课程节点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439025" y="1247775"/>
            <a:ext cx="295275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11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343775" y="1581150"/>
            <a:ext cx="4857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完整 AI 导论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一条可验证的个性化学习闭环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742950" y="504825"/>
            <a:ext cx="74295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目标 → 诊断 → 画像 → 资源 → 练习 → 评测 → 调整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914400" y="819150"/>
            <a:ext cx="10534650" cy="5791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  <a:spcBef>
                <a:spcPts val="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知识基础：按概念记录掌握度与薄弱点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认知风格：视觉、分析、实践等偏好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易错模式：错误类型、频次与具体样例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学习节奏：时间预算、资源块长度与复习间隔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动机目标：课程、竞赛、项目与紧迫度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模态偏好：文本、图示、视频、代码和练习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六维画像不是标签，而是有证据的动态状态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914400" y="857250"/>
            <a:ext cx="10534650" cy="5753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  <a:spcBef>
                <a:spcPts val="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画像 Agent 识别基础、偏好和错误模式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路径 Agent 根据知识图谱与先修关系规划顺序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内容、教学、习题、代码和视频 Agent 并行生产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质量审核与防幻觉 Agent 执行发布门控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Job 持久化支持取消、断线恢复、部分失败和定向重试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多智能体不是角色命名，而是可追踪的生产流水线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42950" y="504825"/>
            <a:ext cx="74295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每一步有结构化输入、输出、耗时、工件和终态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914400" y="857250"/>
            <a:ext cx="35433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  <a:spcBef>
                <a:spcPts val="0"/>
              </a:spcBef>
              <a:buChar char="•"/>
            </a:pPr>
            <a:r>
              <a:rPr lang="en-US" sz="900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控制主题、知识库和模型，仅改变画像</a:t>
            </a:r>
            <a:endParaRPr lang="en-US" dirty="0"/>
          </a:p>
          <a:p>
            <a:pPr>
              <a:lnSpc>
                <a:spcPts val="1035"/>
              </a:lnSpc>
              <a:spcBef>
                <a:spcPts val="600"/>
              </a:spcBef>
              <a:buChar char="•"/>
            </a:pPr>
            <a:r>
              <a:rPr lang="en-US" sz="900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比较资源类型、难度、顺序和推荐理由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4762500" y="857250"/>
            <a:ext cx="3543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  <a:spcBef>
                <a:spcPts val="0"/>
              </a:spcBef>
              <a:buChar char="•"/>
            </a:pPr>
            <a:r>
              <a:rPr lang="en-US" sz="900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与无画像基线进行教师评分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同一个主题，两种画像，两套学习方案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42950" y="504825"/>
            <a:ext cx="74295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用反事实对比证明个性化真正生效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914400" y="819150"/>
            <a:ext cx="10534650" cy="5791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  <a:spcBef>
                <a:spcPts val="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课程讲解文档：分层解释概念、公式和学习建议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知识思维导图：呈现结构、先修关系和易混模块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分层练习：基础、进阶、挑战与错因回写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拓展阅读：论文、课程知识库和待验证声明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代码实操：受限沙箱执行、标准输出和图片工件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可选 Manim 视频与 PPT：长任务独立渲染并追踪进度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五类资源形成互补，而不是重复改写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914400" y="819150"/>
            <a:ext cx="1647825" cy="11430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0C7A6C"/>
              </a:gs>
            </a:gsLst>
            <a:lin ang="330000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657350" y="108585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9C8BD"/>
                </a:solidFill>
                <a:latin typeface="Liberation Sans"/>
                <a:ea typeface=""/>
                <a:cs typeface=""/>
              </a:rPr>
              <a:t>来源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190625" y="1228725"/>
            <a:ext cx="1095375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citations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409700" y="1562100"/>
            <a:ext cx="6477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61BEB2"/>
                </a:solidFill>
                <a:latin typeface="Liberation Sans"/>
                <a:ea typeface=""/>
                <a:cs typeface=""/>
              </a:rPr>
              <a:t>论文与课程知识库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762250" y="819150"/>
            <a:ext cx="1790700" cy="1143000"/>
          </a:xfrm>
          <a:prstGeom prst="rect">
            <a:avLst/>
          </a:prstGeom>
          <a:solidFill>
            <a:srgbClr val="3C281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571875" y="11049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EEDBC8"/>
                </a:solidFill>
                <a:latin typeface="Liberation Sans"/>
                <a:ea typeface=""/>
                <a:cs typeface=""/>
              </a:rPr>
              <a:t>质量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238500" y="1209675"/>
            <a:ext cx="828675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FFF9F0"/>
                </a:solidFill>
                <a:latin typeface="Liberation Sans"/>
                <a:ea typeface=""/>
                <a:cs typeface=""/>
              </a:rPr>
              <a:t>review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371850" y="1543050"/>
            <a:ext cx="5524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61BEB2"/>
                </a:solidFill>
                <a:latin typeface="Liberation Sans"/>
                <a:ea typeface=""/>
                <a:cs typeface=""/>
              </a:rPr>
              <a:t>通过/修改/拒绝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752975" y="819150"/>
            <a:ext cx="1724025" cy="1143000"/>
          </a:xfrm>
          <a:prstGeom prst="rect">
            <a:avLst/>
          </a:prstGeom>
          <a:solidFill>
            <a:srgbClr val="FFFCF7"/>
          </a:solidFill>
          <a:ln w="9525">
            <a:solidFill>
              <a:srgbClr val="DFCBB8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534025" y="11049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安全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229225" y="1209675"/>
            <a:ext cx="771525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safety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324475" y="15430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风险等级与说明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6677025" y="819150"/>
            <a:ext cx="1781175" cy="1143000"/>
          </a:xfrm>
          <a:prstGeom prst="rect">
            <a:avLst/>
          </a:prstGeom>
          <a:solidFill>
            <a:srgbClr val="FFFCF7"/>
          </a:solidFill>
          <a:ln w="9525">
            <a:solidFill>
              <a:srgbClr val="DFCBB8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419975" y="110490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不确定性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153275" y="1209675"/>
            <a:ext cx="828675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claims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200900" y="1543050"/>
            <a:ext cx="73342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未验证内容显式提示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可信生成：每份资源都带证据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914400" y="819150"/>
            <a:ext cx="10534650" cy="5791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  <a:spcBef>
                <a:spcPts val="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加载演示数据：12 秒内讲清画像、路径、5 类资源、证据和策略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点击实时生成：返回真实 Job ID 并订阅流式阶段事件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展示代码执行输出、引用、质量审核与未验证声明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完成一次小测，说明画像和下一步推荐如何更新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导出 Markdown/PDF 学习报告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现场演示：固定快照保稳定，真实 Job 证过程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914400" y="819150"/>
            <a:ext cx="10534650" cy="5791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  <a:spcBef>
                <a:spcPts val="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讯飞星火 OpenAI 兼容接口作为比赛推荐 LLM provider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LlamaIndex 管理课程文档解析、向量检索和引用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知识图谱拓扑排序与画像剪枝生成动态路径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StreamBus + WebSocket 展示真实阶段和工件</a:t>
            </a:r>
            <a:endParaRPr lang="en-US" dirty="0"/>
          </a:p>
          <a:p>
            <a:pPr>
              <a:lnSpc>
                <a:spcPts val="1121"/>
              </a:lnSpc>
              <a:spcBef>
                <a:spcPts val="600"/>
              </a:spcBef>
              <a:buChar char="•"/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SQLite 持久化画像、事件、资源包和 Job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技术融合：讯飞星火 + RAG + 多智能体工程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914400" y="819150"/>
            <a:ext cx="1447800" cy="11430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0C7A6C"/>
              </a:gs>
            </a:gsLst>
            <a:lin ang="330000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485900" y="108585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9C8BD"/>
                </a:solidFill>
                <a:latin typeface="Liberation Sans"/>
                <a:ea typeface=""/>
                <a:cs typeface=""/>
              </a:rPr>
              <a:t>后端测试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333500" y="1228725"/>
            <a:ext cx="600075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500+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333500" y="1562100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61BEB2"/>
                </a:solidFill>
                <a:latin typeface="Liberation Sans"/>
                <a:ea typeface=""/>
                <a:cs typeface=""/>
              </a:rPr>
              <a:t>单元/集成/E2E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562225" y="819150"/>
            <a:ext cx="1733550" cy="1143000"/>
          </a:xfrm>
          <a:prstGeom prst="rect">
            <a:avLst/>
          </a:prstGeom>
          <a:solidFill>
            <a:srgbClr val="3C281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276600" y="110490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EEDBC8"/>
                </a:solidFill>
                <a:latin typeface="Liberation Sans"/>
                <a:ea typeface=""/>
                <a:cs typeface=""/>
              </a:rPr>
              <a:t>前端测试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190875" y="12096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FFF9F0"/>
                </a:solidFill>
                <a:latin typeface="Liberation Sans"/>
                <a:ea typeface=""/>
                <a:cs typeface=""/>
              </a:rPr>
              <a:t>60+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181350" y="1543050"/>
            <a:ext cx="4857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61BEB2"/>
                </a:solidFill>
                <a:latin typeface="Liberation Sans"/>
                <a:ea typeface=""/>
                <a:cs typeface=""/>
              </a:rPr>
              <a:t>组件与状态机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495800" y="819150"/>
            <a:ext cx="1876425" cy="1143000"/>
          </a:xfrm>
          <a:prstGeom prst="rect">
            <a:avLst/>
          </a:prstGeom>
          <a:solidFill>
            <a:srgbClr val="FFFCF7"/>
          </a:solidFill>
          <a:ln w="9525">
            <a:solidFill>
              <a:srgbClr val="DFCBB8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286375" y="110490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课程讲义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286375" y="1209675"/>
            <a:ext cx="295275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12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114925" y="1543050"/>
            <a:ext cx="6381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80 学时 AI 导论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6572250" y="819150"/>
            <a:ext cx="1885950" cy="1143000"/>
          </a:xfrm>
          <a:prstGeom prst="rect">
            <a:avLst/>
          </a:prstGeom>
          <a:solidFill>
            <a:srgbClr val="FFFCF7"/>
          </a:solidFill>
          <a:ln w="9525">
            <a:solidFill>
              <a:srgbClr val="DFCBB8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362825" y="1104900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9B8574"/>
                </a:solidFill>
                <a:latin typeface="Liberation Sans"/>
                <a:ea typeface=""/>
                <a:cs typeface=""/>
              </a:rPr>
              <a:t>一键启动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429500" y="12096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2329"/>
              </a:lnSpc>
            </a:pPr>
            <a:r>
              <a:rPr lang="en-US" sz="2025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2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191375" y="1543050"/>
            <a:ext cx="638175" cy="13335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start/stop 脚本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42950" y="219075"/>
            <a:ext cx="7429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工程底座已经为比赛现场做过准备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914400" y="2781300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/>
          </a:bodyPr>
          <a:lstStyle/>
          <a:p>
            <a:pPr>
              <a:lnSpc>
                <a:spcPts val="2587"/>
              </a:lnSpc>
            </a:pPr>
            <a:r>
              <a:rPr lang="en-US" sz="2250" b="1" dirty="0">
                <a:solidFill>
                  <a:srgbClr val="3C281F"/>
                </a:solidFill>
                <a:latin typeface="Liberation Sans"/>
                <a:ea typeface=""/>
                <a:cs typeface=""/>
              </a:rPr>
              <a:t>让每一次生成，都能回答三个问题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914400" y="3343275"/>
            <a:ext cx="857250" cy="28575"/>
          </a:xfrm>
          <a:prstGeom prst="rect">
            <a:avLst/>
          </a:prstGeom>
          <a:solidFill>
            <a:srgbClr val="0F9D8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914400" y="3705225"/>
            <a:ext cx="2781300" cy="1524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为什么适合这个学生？依据来自哪里？学习之后下一步如何变化？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914400" y="3952875"/>
            <a:ext cx="3686175" cy="152400"/>
          </a:xfrm>
          <a:prstGeom prst="rect">
            <a:avLst/>
          </a:prstGeom>
          <a:noFill/>
          <a:ln>
            <a:noFill/>
          </a:ln>
        </p:spPr>
        <p:txBody>
          <a:bodyPr wrap="non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5A463B"/>
                </a:solidFill>
                <a:latin typeface="Liberation Sans"/>
                <a:ea typeface=""/>
                <a:cs typeface=""/>
              </a:rPr>
              <a:t>TutorBot 把生成式 AI 从内容工具，变成可解释、可评测、可持续优化的学习系统。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rated">
  <a:themeElements>
    <a:clrScheme name="Generated">
      <a:dk1>
        <a:srgbClr val="3C281F"/>
      </a:dk1>
      <a:lt1>
        <a:srgbClr val="FFF9F0"/>
      </a:lt1>
      <a:dk2>
        <a:srgbClr val="7A5D4F"/>
      </a:dk2>
      <a:lt2>
        <a:srgbClr val="F2E7D6"/>
      </a:lt2>
      <a:accent1>
        <a:srgbClr val="0F9D8A"/>
      </a:accent1>
      <a:accent2>
        <a:srgbClr val="A84A3E"/>
      </a:accent2>
      <a:accent3>
        <a:srgbClr val="58727B"/>
      </a:accent3>
      <a:accent4>
        <a:srgbClr val="BC9343"/>
      </a:accent4>
      <a:accent5>
        <a:srgbClr val="4A6A55"/>
      </a:accent5>
      <a:accent6>
        <a:srgbClr val="865D8F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Liberation Sans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Liberation Sans</vt:lpstr>
      <vt:lpstr>Liberation Sans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TutorBot 个性化学习多智能体系统</dc:title>
  <dc:creator>中国软件杯 A3 参赛团队</dc:creator>
  <cp:lastModifiedBy>中国软件杯 A3 参赛团队</cp:lastModifiedBy>
  <cp:revision>1</cp:revision>
  <dcterms:created xsi:type="dcterms:W3CDTF">1980-01-01T00:00:02Z</dcterms:created>
  <dcterms:modified xsi:type="dcterms:W3CDTF">1980-01-01T00:00:02Z</dcterms:modified>
</cp:coreProperties>
</file>